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cab1e80d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cab1e80d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cab1e80da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cab1e80da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cab1e80da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cab1e80da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ab1e80da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cab1e80da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cab1e80d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cab1e80d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cab1e80da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cab1e80da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cab1e80da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cab1e80da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cab1e80d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cab1e80d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ca3081a78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ca3081a78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cab1e80da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cab1e80da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ca3081a7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ca3081a7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ca3081a7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ca3081a7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ca3081a7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ca3081a7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ca3081a7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ca3081a7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ca3081a7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bca3081a7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d1883c2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d1883c2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ca3081a78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ca3081a7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cab1e80da_0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cab1e80da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cab1e80da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cab1e80da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cab1e80da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cab1e80da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cab1e80da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bcab1e80da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cab1e80da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bcab1e80da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cab1e80da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cab1e80da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2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2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5.jpg"/><Relationship Id="rId5" Type="http://schemas.openxmlformats.org/officeDocument/2006/relationships/image" Target="../media/image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jpg"/><Relationship Id="rId4" Type="http://schemas.openxmlformats.org/officeDocument/2006/relationships/image" Target="../media/image4.jpg"/><Relationship Id="rId9" Type="http://schemas.openxmlformats.org/officeDocument/2006/relationships/image" Target="../media/image15.jpg"/><Relationship Id="rId5" Type="http://schemas.openxmlformats.org/officeDocument/2006/relationships/image" Target="../media/image13.jpg"/><Relationship Id="rId6" Type="http://schemas.openxmlformats.org/officeDocument/2006/relationships/image" Target="../media/image10.jpg"/><Relationship Id="rId7" Type="http://schemas.openxmlformats.org/officeDocument/2006/relationships/image" Target="../media/image8.jpg"/><Relationship Id="rId8" Type="http://schemas.openxmlformats.org/officeDocument/2006/relationships/image" Target="../media/image2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jpg"/><Relationship Id="rId4" Type="http://schemas.openxmlformats.org/officeDocument/2006/relationships/image" Target="../media/image17.jpg"/><Relationship Id="rId5" Type="http://schemas.openxmlformats.org/officeDocument/2006/relationships/image" Target="../media/image14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jpg"/><Relationship Id="rId4" Type="http://schemas.openxmlformats.org/officeDocument/2006/relationships/image" Target="../media/image19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jpg"/><Relationship Id="rId4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131750" y="1410325"/>
            <a:ext cx="6880500" cy="16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000">
                <a:solidFill>
                  <a:schemeClr val="dk2"/>
                </a:solidFill>
              </a:rPr>
              <a:t>耳朵裡的動物園</a:t>
            </a:r>
            <a:endParaRPr b="1" sz="3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2"/>
                </a:solidFill>
              </a:rPr>
              <a:t> The Zoo Inside Your Ear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200">
                <a:solidFill>
                  <a:schemeClr val="dk2"/>
                </a:solidFill>
              </a:rPr>
              <a:t>2026 世界睡眠月｜沉浸式共創策展提案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55" name="Google Shape;55;p13" title="橫式組合Ａ＿10_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0447" y="4041400"/>
            <a:ext cx="2323098" cy="8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0" y="0"/>
            <a:ext cx="3000000" cy="461700"/>
          </a:xfrm>
          <a:prstGeom prst="rect">
            <a:avLst/>
          </a:prstGeom>
          <a:solidFill>
            <a:srgbClr val="0054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FFFFFF"/>
                </a:solidFill>
              </a:rPr>
              <a:t>提案背景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928200" y="1519350"/>
            <a:ext cx="7287600" cy="21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睡眠問題，已成為現代人最普遍、卻也最被忽略的心理狀態之一。</a:t>
            </a:r>
            <a:br>
              <a:rPr lang="zh-TW" sz="1700">
                <a:solidFill>
                  <a:schemeClr val="dk2"/>
                </a:solidFill>
              </a:rPr>
            </a:br>
            <a:r>
              <a:rPr lang="zh-TW" sz="1700">
                <a:solidFill>
                  <a:schemeClr val="dk2"/>
                </a:solidFill>
              </a:rPr>
              <a:t>多數人的失眠，並非來自環境干擾，而是源於腦內停不下來的噪音。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對明天的焦慮、</a:t>
            </a:r>
            <a:br>
              <a:rPr lang="zh-TW" sz="1700">
                <a:solidFill>
                  <a:schemeClr val="dk2"/>
                </a:solidFill>
              </a:rPr>
            </a:br>
            <a:r>
              <a:rPr lang="zh-TW" sz="1700">
                <a:solidFill>
                  <a:schemeClr val="dk2"/>
                </a:solidFill>
              </a:rPr>
              <a:t>對今天的後悔、</a:t>
            </a:r>
            <a:br>
              <a:rPr lang="zh-TW" sz="1700">
                <a:solidFill>
                  <a:schemeClr val="dk2"/>
                </a:solidFill>
              </a:rPr>
            </a:br>
            <a:r>
              <a:rPr lang="zh-TW" sz="1700">
                <a:solidFill>
                  <a:schemeClr val="dk2"/>
                </a:solidFill>
              </a:rPr>
              <a:t>對人際與社交的恐懼，</a:t>
            </a:r>
            <a:br>
              <a:rPr lang="zh-TW" sz="1700">
                <a:solidFill>
                  <a:schemeClr val="dk2"/>
                </a:solidFill>
              </a:rPr>
            </a:br>
            <a:r>
              <a:rPr lang="zh-TW" sz="1700">
                <a:solidFill>
                  <a:schemeClr val="dk2"/>
                </a:solidFill>
              </a:rPr>
              <a:t>這些情緒在夜深時被無限放大，成為一種持續運轉的「腦內派對」。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0" y="0"/>
            <a:ext cx="3000000" cy="461700"/>
          </a:xfrm>
          <a:prstGeom prst="rect">
            <a:avLst/>
          </a:prstGeom>
          <a:solidFill>
            <a:srgbClr val="0054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FFFFFF"/>
                </a:solidFill>
              </a:rPr>
              <a:t>核心概念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930750" y="1264375"/>
            <a:ext cx="7282500" cy="23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900">
                <a:solidFill>
                  <a:schemeClr val="dk2"/>
                </a:solidFill>
              </a:rPr>
              <a:t>結合「世界睡眠日」與「耳酷點子」品牌理念，</a:t>
            </a:r>
            <a:br>
              <a:rPr b="1" lang="zh-TW" sz="1900">
                <a:solidFill>
                  <a:schemeClr val="dk2"/>
                </a:solidFill>
              </a:rPr>
            </a:br>
            <a:r>
              <a:rPr b="1" lang="zh-TW" sz="1900">
                <a:solidFill>
                  <a:schemeClr val="dk2"/>
                </a:solidFill>
              </a:rPr>
              <a:t>打造一座「深夜動物園」。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透過</a:t>
            </a:r>
            <a:r>
              <a:rPr b="1" lang="zh-TW" sz="1700">
                <a:solidFill>
                  <a:schemeClr val="dk2"/>
                </a:solidFill>
              </a:rPr>
              <a:t>生成式 AI 技術</a:t>
            </a:r>
            <a:r>
              <a:rPr lang="zh-TW" sz="1700">
                <a:solidFill>
                  <a:schemeClr val="dk2"/>
                </a:solidFill>
              </a:rPr>
              <a:t>，將使用者抽象的焦慮與腦內噪音，即時轉化為獨一無二的</a:t>
            </a:r>
            <a:r>
              <a:rPr b="1" lang="zh-TW" sz="1700">
                <a:solidFill>
                  <a:schemeClr val="dk2"/>
                </a:solidFill>
              </a:rPr>
              <a:t>手繪動物</a:t>
            </a:r>
            <a:r>
              <a:rPr lang="zh-TW" sz="1700">
                <a:solidFill>
                  <a:schemeClr val="dk2"/>
                </a:solidFill>
              </a:rPr>
              <a:t>與</a:t>
            </a:r>
            <a:r>
              <a:rPr b="1" lang="zh-TW" sz="1700">
                <a:solidFill>
                  <a:schemeClr val="dk2"/>
                </a:solidFill>
              </a:rPr>
              <a:t>客製化幽默文案</a:t>
            </a:r>
            <a:r>
              <a:rPr lang="zh-TW" sz="1700">
                <a:solidFill>
                  <a:schemeClr val="dk2"/>
                </a:solidFill>
              </a:rPr>
              <a:t>；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這不僅是一場心理測驗，更是一次溫暖的數位修復，讓每個不想睡的靈魂，都能在萬人共棲的地圖中，找到專屬於自己的棲息與陪伴。</a:t>
            </a:r>
            <a:endParaRPr b="1"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0" y="0"/>
            <a:ext cx="3000000" cy="461700"/>
          </a:xfrm>
          <a:prstGeom prst="rect">
            <a:avLst/>
          </a:prstGeom>
          <a:solidFill>
            <a:srgbClr val="0054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FFFFFF"/>
                </a:solidFill>
              </a:rPr>
              <a:t>專案亮點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930750" y="775800"/>
            <a:ext cx="7282500" cy="36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900">
                <a:solidFill>
                  <a:schemeClr val="dk2"/>
                </a:solidFill>
              </a:rPr>
              <a:t>低門檻的互動誘餌：將睡眠議題「遊戲化」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透過輕鬆直覺的互動機制，降低大眾參與的心理門檻，提升活動參與率，協助品牌成功觸及更多潛在客戶。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900">
                <a:solidFill>
                  <a:schemeClr val="dk2"/>
                </a:solidFill>
              </a:rPr>
              <a:t>深度共鳴：</a:t>
            </a:r>
            <a:r>
              <a:rPr b="1" lang="zh-TW" sz="1900">
                <a:solidFill>
                  <a:schemeClr val="dk2"/>
                </a:solidFill>
              </a:rPr>
              <a:t>從「焦慮」轉化為「被理解」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將抽象的心理狀態轉化為自帶社交話題的「動物標籤」，透過角色的投射創造身分認同感。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900">
                <a:solidFill>
                  <a:schemeClr val="dk2"/>
                </a:solidFill>
              </a:rPr>
              <a:t>群體療癒：打造「共創睡眠地圖」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打破測驗的孤島體驗，構建萬人共棲的「線上動物園」。延長使用者的停留時間與回訪意願，更將群體互動轉化為品牌視覺資產。</a:t>
            </a:r>
            <a:endParaRPr b="1"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0" y="0"/>
            <a:ext cx="3000000" cy="461700"/>
          </a:xfrm>
          <a:prstGeom prst="rect">
            <a:avLst/>
          </a:prstGeom>
          <a:solidFill>
            <a:srgbClr val="0054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FFFFFF"/>
                </a:solidFill>
              </a:rPr>
              <a:t>使用者體驗旅程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742325" y="1112475"/>
            <a:ext cx="74151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b="1" lang="zh-TW" sz="1900">
                <a:solidFill>
                  <a:schemeClr val="dk2"/>
                </a:solidFill>
              </a:rPr>
              <a:t>入園</a:t>
            </a:r>
            <a:r>
              <a:rPr b="1" lang="zh-TW" sz="1700">
                <a:solidFill>
                  <a:schemeClr val="dk2"/>
                </a:solidFill>
              </a:rPr>
              <a:t> </a:t>
            </a:r>
            <a:r>
              <a:rPr lang="zh-TW" sz="1700">
                <a:solidFill>
                  <a:schemeClr val="dk2"/>
                </a:solidFill>
              </a:rPr>
              <a:t>受「深夜動物園」的神秘氛圍吸引，點擊推開虛擬大門。</a:t>
            </a:r>
            <a:endParaRPr sz="17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b="1" lang="zh-TW" sz="1900">
                <a:solidFill>
                  <a:schemeClr val="dk2"/>
                </a:solidFill>
              </a:rPr>
              <a:t>測驗</a:t>
            </a:r>
            <a:r>
              <a:rPr b="1" lang="zh-TW" sz="1700">
                <a:solidFill>
                  <a:schemeClr val="dk2"/>
                </a:solidFill>
              </a:rPr>
              <a:t> </a:t>
            </a:r>
            <a:r>
              <a:rPr lang="zh-TW" sz="1700">
                <a:solidFill>
                  <a:schemeClr val="dk2"/>
                </a:solidFill>
              </a:rPr>
              <a:t>透過 5 題沉浸式繪本問答，在毫無壓力的情境中，探索潛意識裡的真實模樣。</a:t>
            </a:r>
            <a:endParaRPr sz="17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b="1" lang="zh-TW" sz="1900">
                <a:solidFill>
                  <a:schemeClr val="dk2"/>
                </a:solidFill>
              </a:rPr>
              <a:t>領證</a:t>
            </a:r>
            <a:r>
              <a:rPr b="1" lang="zh-TW" sz="1700">
                <a:solidFill>
                  <a:schemeClr val="dk2"/>
                </a:solidFill>
              </a:rPr>
              <a:t> </a:t>
            </a:r>
            <a:r>
              <a:rPr lang="zh-TW" sz="1700">
                <a:solidFill>
                  <a:schemeClr val="dk2"/>
                </a:solidFill>
              </a:rPr>
              <a:t>獲得專屬「入園通行證」，看見內心那隻「不想睡的小動物」，產生強烈的角色投射。</a:t>
            </a:r>
            <a:endParaRPr sz="17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b="1" lang="zh-TW" sz="1900">
                <a:solidFill>
                  <a:schemeClr val="dk2"/>
                </a:solidFill>
              </a:rPr>
              <a:t>共創</a:t>
            </a:r>
            <a:r>
              <a:rPr b="1" lang="zh-TW" sz="1700">
                <a:solidFill>
                  <a:schemeClr val="dk2"/>
                </a:solidFill>
              </a:rPr>
              <a:t> </a:t>
            </a:r>
            <a:r>
              <a:rPr lang="zh-TW" sz="1700">
                <a:solidFill>
                  <a:schemeClr val="dk2"/>
                </a:solidFill>
              </a:rPr>
              <a:t>降落至「萬人共創地圖」尋找同類，並在互動中領取專屬的「耳酷處方」。</a:t>
            </a:r>
            <a:endParaRPr b="1"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/>
        </p:nvSpPr>
        <p:spPr>
          <a:xfrm>
            <a:off x="0" y="0"/>
            <a:ext cx="3000000" cy="461700"/>
          </a:xfrm>
          <a:prstGeom prst="rect">
            <a:avLst/>
          </a:prstGeom>
          <a:solidFill>
            <a:srgbClr val="0054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FFFFFF"/>
                </a:solidFill>
              </a:rPr>
              <a:t>預期效益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85" name="Google Shape;85;p18"/>
          <p:cNvSpPr txBox="1"/>
          <p:nvPr/>
        </p:nvSpPr>
        <p:spPr>
          <a:xfrm>
            <a:off x="606575" y="881750"/>
            <a:ext cx="7415100" cy="3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700">
                <a:solidFill>
                  <a:schemeClr val="dk2"/>
                </a:solidFill>
              </a:rPr>
              <a:t>社群擴散力：創造主動分享的契機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藉由 AI 生成的趣味分析與獨特的「飼育員視角」創造話題，讓測驗結果成為使用者想主動分享的個性內容，吸引更多新用戶參與。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700">
                <a:solidFill>
                  <a:schemeClr val="dk2"/>
                </a:solidFill>
              </a:rPr>
              <a:t>名單獲取效益：持續累積潛在客群</a:t>
            </a:r>
            <a:endParaRPr b="1"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透過沈浸式體驗觸及更多受眾，在互動過程中引導加入 LINE 官方帳號，累積可長期經營的客群名單。</a:t>
            </a:r>
            <a:endParaRPr b="1"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700">
                <a:solidFill>
                  <a:schemeClr val="dk2"/>
                </a:solidFill>
              </a:rPr>
              <a:t>品牌心佔率：建立溫暖的陪伴形象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跳脫單純的功能性銷售，透過感性策展建立品牌差異化。讓耳酷從「販售助眠產品」，升級為使用者在深夜時願意信賴的心理支持夥伴。</a:t>
            </a:r>
            <a:endParaRPr b="1"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/>
        </p:nvSpPr>
        <p:spPr>
          <a:xfrm>
            <a:off x="0" y="0"/>
            <a:ext cx="3000000" cy="461700"/>
          </a:xfrm>
          <a:prstGeom prst="rect">
            <a:avLst/>
          </a:prstGeom>
          <a:solidFill>
            <a:srgbClr val="0054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FFFFFF"/>
                </a:solidFill>
              </a:rPr>
              <a:t>服務範疇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91" name="Google Shape;91;p19"/>
          <p:cNvSpPr txBox="1"/>
          <p:nvPr/>
        </p:nvSpPr>
        <p:spPr>
          <a:xfrm>
            <a:off x="606575" y="881750"/>
            <a:ext cx="7415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92" name="Google Shape;92;p19"/>
          <p:cNvSpPr txBox="1"/>
          <p:nvPr/>
        </p:nvSpPr>
        <p:spPr>
          <a:xfrm>
            <a:off x="841425" y="664600"/>
            <a:ext cx="67992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1. 核心體驗建置</a:t>
            </a:r>
            <a:endParaRPr b="1"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zh-TW" sz="1500">
                <a:solidFill>
                  <a:schemeClr val="dk2"/>
                </a:solidFill>
              </a:rPr>
              <a:t>「AI 深夜動物園」心理測驗網站</a:t>
            </a:r>
            <a:endParaRPr b="1" sz="1500">
              <a:solidFill>
                <a:schemeClr val="dk2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zh-TW" sz="1500">
                <a:solidFill>
                  <a:schemeClr val="dk2"/>
                </a:solidFill>
              </a:rPr>
              <a:t>含 UI/UX 介面設計、前端互動開發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zh-TW" sz="1500">
                <a:solidFill>
                  <a:schemeClr val="dk2"/>
                </a:solidFill>
              </a:rPr>
              <a:t>生成式 AI 圖像與文案串接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zh-TW" sz="1500">
                <a:solidFill>
                  <a:schemeClr val="dk2"/>
                </a:solidFill>
              </a:rPr>
              <a:t>測驗邏輯與結果頁面建置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2. 數位行銷素材</a:t>
            </a:r>
            <a:endParaRPr b="1"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zh-TW" sz="1500">
                <a:solidFill>
                  <a:schemeClr val="dk2"/>
                </a:solidFill>
              </a:rPr>
              <a:t>社群宣傳貼文 x 1 式</a:t>
            </a:r>
            <a:endParaRPr b="1" sz="1500">
              <a:solidFill>
                <a:schemeClr val="dk2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zh-TW" sz="1500">
                <a:solidFill>
                  <a:schemeClr val="dk2"/>
                </a:solidFill>
              </a:rPr>
              <a:t>適用於 IG / FB / Threads，作為活動上線宣告與擴散。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zh-TW" sz="1500">
                <a:solidFill>
                  <a:schemeClr val="dk2"/>
                </a:solidFill>
              </a:rPr>
              <a:t>廣告投放貼文 x 1 式</a:t>
            </a:r>
            <a:endParaRPr b="1" sz="1500">
              <a:solidFill>
                <a:schemeClr val="dk2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zh-TW" sz="1500">
                <a:solidFill>
                  <a:schemeClr val="dk2"/>
                </a:solidFill>
              </a:rPr>
              <a:t>針對導流成效優化之視覺設計。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zh-TW" sz="1500">
                <a:solidFill>
                  <a:schemeClr val="dk2"/>
                </a:solidFill>
              </a:rPr>
              <a:t>會員行銷素材 (CRM)</a:t>
            </a:r>
            <a:endParaRPr b="1" sz="1500">
              <a:solidFill>
                <a:schemeClr val="dk2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b="1" lang="zh-TW" sz="1500">
                <a:solidFill>
                  <a:schemeClr val="dk2"/>
                </a:solidFill>
              </a:rPr>
              <a:t>EDM 電子報設計 x 1</a:t>
            </a:r>
            <a:r>
              <a:rPr lang="zh-TW" sz="1500">
                <a:solidFill>
                  <a:schemeClr val="dk2"/>
                </a:solidFill>
              </a:rPr>
              <a:t>：針對 Email 會員進行深度溝通。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b="1" lang="zh-TW" sz="1500">
                <a:solidFill>
                  <a:schemeClr val="dk2"/>
                </a:solidFill>
              </a:rPr>
              <a:t>LINE@ 推播圖文 x 1</a:t>
            </a:r>
            <a:r>
              <a:rPr lang="zh-TW" sz="1500">
                <a:solidFill>
                  <a:schemeClr val="dk2"/>
                </a:solidFill>
              </a:rPr>
              <a:t>：針對官方帳號好友進行即時導流。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/>
        </p:nvSpPr>
        <p:spPr>
          <a:xfrm>
            <a:off x="0" y="0"/>
            <a:ext cx="3000000" cy="461700"/>
          </a:xfrm>
          <a:prstGeom prst="rect">
            <a:avLst/>
          </a:prstGeom>
          <a:solidFill>
            <a:srgbClr val="0054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FFFFFF"/>
                </a:solidFill>
              </a:rPr>
              <a:t>服務範疇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98" name="Google Shape;98;p20"/>
          <p:cNvSpPr txBox="1"/>
          <p:nvPr/>
        </p:nvSpPr>
        <p:spPr>
          <a:xfrm>
            <a:off x="1172400" y="1328150"/>
            <a:ext cx="6799200" cy="18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700">
                <a:solidFill>
                  <a:schemeClr val="dk2"/>
                </a:solidFill>
              </a:rPr>
              <a:t>3. 實體接觸點設計</a:t>
            </a:r>
            <a:endParaRPr b="1"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b="1" lang="zh-TW" sz="1700">
                <a:solidFill>
                  <a:schemeClr val="dk2"/>
                </a:solidFill>
              </a:rPr>
              <a:t>活動宣傳海報 x 1</a:t>
            </a:r>
            <a:endParaRPr b="1" sz="1700">
              <a:solidFill>
                <a:schemeClr val="dk2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lang="zh-TW" sz="1700">
                <a:solidFill>
                  <a:schemeClr val="dk2"/>
                </a:solidFill>
              </a:rPr>
              <a:t>用於線下門市或活動現場張貼，引導掃描 QR Code 入園。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b="1" lang="zh-TW" sz="1700">
                <a:solidFill>
                  <a:schemeClr val="dk2"/>
                </a:solidFill>
              </a:rPr>
              <a:t>出貨小卡 x 1</a:t>
            </a:r>
            <a:endParaRPr b="1" sz="1700">
              <a:solidFill>
                <a:schemeClr val="dk2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lang="zh-TW" sz="1700">
                <a:solidFill>
                  <a:schemeClr val="dk2"/>
                </a:solidFill>
              </a:rPr>
              <a:t>隨貨附贈的驚喜設計，將電商消費者導流至線上體驗。</a:t>
            </a:r>
            <a:endParaRPr b="1" sz="2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/>
        </p:nvSpPr>
        <p:spPr>
          <a:xfrm>
            <a:off x="2501850" y="1586250"/>
            <a:ext cx="4140300" cy="19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4700">
                <a:solidFill>
                  <a:srgbClr val="1F497D"/>
                </a:solidFill>
              </a:rPr>
              <a:t>心理測驗</a:t>
            </a:r>
            <a:endParaRPr b="1" sz="4700">
              <a:solidFill>
                <a:srgbClr val="1F497D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b="1" lang="zh-TW" sz="4700">
                <a:solidFill>
                  <a:srgbClr val="1F497D"/>
                </a:solidFill>
              </a:rPr>
              <a:t>內容企劃</a:t>
            </a:r>
            <a:endParaRPr b="1">
              <a:solidFill>
                <a:srgbClr val="1F497D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/>
        </p:nvSpPr>
        <p:spPr>
          <a:xfrm>
            <a:off x="3113100" y="298500"/>
            <a:ext cx="2917800" cy="4546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The Zoo Inside Your Ear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耳朵裡的動物園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睡不著的聲音不是雜訊，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是你心裡的小動物在夢遊。 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別急著趕走牠，看看今晚是誰陪著你？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CTA：躡手躡腳跟進去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2"/>
                </a:solidFill>
              </a:rPr>
              <a:t>(耳酷logo)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 title="截圖 2026-01-31 下午1.41.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162" y="849763"/>
            <a:ext cx="2616250" cy="344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3" title="截圖 2026-01-31 下午1.40.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1512" y="849763"/>
            <a:ext cx="2556662" cy="344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3" title="618031490_17912988456277668_8338034563353273117_n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12262" y="849763"/>
            <a:ext cx="2860570" cy="344397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3"/>
          <p:cNvSpPr txBox="1"/>
          <p:nvPr/>
        </p:nvSpPr>
        <p:spPr>
          <a:xfrm>
            <a:off x="0" y="0"/>
            <a:ext cx="3000000" cy="461700"/>
          </a:xfrm>
          <a:prstGeom prst="rect">
            <a:avLst/>
          </a:prstGeom>
          <a:solidFill>
            <a:srgbClr val="0054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FFFFFF"/>
                </a:solidFill>
              </a:rPr>
              <a:t>首頁風格</a:t>
            </a:r>
            <a:endParaRPr sz="1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/>
        </p:nvSpPr>
        <p:spPr>
          <a:xfrm>
            <a:off x="379975" y="298500"/>
            <a:ext cx="2917800" cy="4546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The Zoo Inside Your Ear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耳朵裡的動物園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Question1/5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躡手躡腳走進去後，你發現這座深夜動物園現在的狀態是...？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A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B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C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D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2"/>
                </a:solidFill>
              </a:rPr>
              <a:t>(耳酷logo)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2" name="Google Shape;122;p24"/>
          <p:cNvSpPr txBox="1"/>
          <p:nvPr/>
        </p:nvSpPr>
        <p:spPr>
          <a:xfrm>
            <a:off x="3637075" y="1085700"/>
            <a:ext cx="5333700" cy="29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chemeClr val="dk1"/>
                </a:solidFill>
              </a:rPr>
              <a:t>Q1. 入口狀態（判斷現況）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500">
                <a:solidFill>
                  <a:schemeClr val="dk2"/>
                </a:solidFill>
              </a:rPr>
              <a:t>躡手躡腳走進去後，你發現這座深夜動物園現在的狀態是...？</a:t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A. 正在開趴踢（亢奮型）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霓虹燈閃爍，大家看起來都嗨到不行，完全沒有要睡的意思。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B. 起了一場大霧（迷惘型）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2"/>
                </a:solidFill>
              </a:rPr>
              <a:t>什麼都看不清楚，只覺得大家好像都在夢遊，走路搖搖晃晃的。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C. 像是圖書館（壓抑型）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安靜到連掉根針都聽得見，大家都屏住呼吸不敢發出聲音。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D. 軟綿綿的雲朵（放鬆型）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地板軟軟的，空氣懶懶的，走沒兩步就想直接躺下。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/>
        </p:nvSpPr>
        <p:spPr>
          <a:xfrm>
            <a:off x="379975" y="298500"/>
            <a:ext cx="2917800" cy="4546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The Zoo Inside Your Ear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耳朵裡的動物園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Question2/5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閉上眼睛仔細聽，你覺得背景播放的 BGM比較像什麼？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A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B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C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D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2"/>
                </a:solidFill>
              </a:rPr>
              <a:t>(耳酷logo)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8" name="Google Shape;128;p25"/>
          <p:cNvSpPr txBox="1"/>
          <p:nvPr/>
        </p:nvSpPr>
        <p:spPr>
          <a:xfrm>
            <a:off x="3637075" y="1085700"/>
            <a:ext cx="5333700" cy="3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chemeClr val="dk1"/>
                </a:solidFill>
              </a:rPr>
              <a:t>Q2. 背景雜訊（判斷腦內聲音）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閉上眼睛仔細聽，你覺得背景播放的 BGM比較像什麼？</a:t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A. 隔壁鄰居的電視聲（思緒混亂）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好像有十個人同時在講話，資訊量爆炸，聽不清楚但停不下來。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B. 裝修的鑽孔聲（焦慮緊張）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咚滋咚滋的心跳聲，讓人有點坐立難安，想找地方躲起來。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C. 單曲循環的洗腦歌（強迫/糾結）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某一段旋律一直鬼打牆，越叫它停，它越大聲。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D. 下雨天的白噪音（平靜/想睡）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悶悶的、沙沙的，聽著聽著眼皮就越來越重了。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/>
        </p:nvSpPr>
        <p:spPr>
          <a:xfrm>
            <a:off x="379975" y="298500"/>
            <a:ext cx="2917800" cy="4546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The Zoo Inside Your Ear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耳朵裡的動物園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Question3/5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草叢裡突然冒出一隻毛茸茸的小傢伙盯著你，你覺得牠想幹嘛？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A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B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C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D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2"/>
                </a:solidFill>
              </a:rPr>
              <a:t>(耳酷logo)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4" name="Google Shape;134;p26"/>
          <p:cNvSpPr txBox="1"/>
          <p:nvPr/>
        </p:nvSpPr>
        <p:spPr>
          <a:xfrm>
            <a:off x="3637075" y="1085700"/>
            <a:ext cx="5333700" cy="35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chemeClr val="dk1"/>
                </a:solidFill>
              </a:rPr>
              <a:t>Q3. 動物接觸（判斷社交/依賴需求</a:t>
            </a:r>
            <a:r>
              <a:rPr lang="zh-TW" sz="1000">
                <a:solidFill>
                  <a:schemeClr val="dk1"/>
                </a:solidFill>
              </a:rPr>
              <a:t>）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草叢裡突然冒出一隻毛茸茸的小傢伙盯著你，你覺得牠想幹嘛？</a:t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A. 盯著我看（防衛/觀察）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牠一動也不動，好像在跟我玩「誰先眨眼就輸了」的遊戲。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B. 舉著空碗（渴望照顧/被愛）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牠看起來餓壞了，正在用無辜的眼神暗示我交出宵夜。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C. 瘋狂磨蹭（渴望陪伴/依賴）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牠直接黏上來討摸摸，像個巨型暖暖包一樣甩都甩不掉。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D. 無視我（獨立/自我）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牠只是翻了個身，喬個舒服的姿勢繼續睡，完全不把我放在眼裡。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/>
        </p:nvSpPr>
        <p:spPr>
          <a:xfrm>
            <a:off x="379975" y="298500"/>
            <a:ext cx="2917800" cy="4546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The Zoo Inside Your Ear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耳朵裡的動物園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Question4/5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這時候你才發現，自己背上好像背著一個東西，那是什麼？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A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B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C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D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2"/>
                </a:solidFill>
              </a:rPr>
              <a:t>(耳酷logo)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0" name="Google Shape;140;p27"/>
          <p:cNvSpPr txBox="1"/>
          <p:nvPr/>
        </p:nvSpPr>
        <p:spPr>
          <a:xfrm>
            <a:off x="3637075" y="1085700"/>
            <a:ext cx="5333700" cy="3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chemeClr val="dk1"/>
                </a:solidFill>
              </a:rPr>
              <a:t>Q4. 隨身行李（判斷壓力源）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這時候你才發現，自己背上好像背著一個東西，那是什麼？</a:t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A. 沒說出口的那句話（後悔/檢討）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裡面裝滿了今天說錯的話、做錯的事，死沈死沈的。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B. 快要飄走的氣球（空虛/迷惘）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抓著它腳不著地，有點沒安全感，不知道會被帶去哪。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C. 超長待辦清單（工作壓力/責任）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長到拖在地板上，走起路來還會發出沙沙沙的聲音。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D. 軟綿綿的大枕頭（自在/無負擔）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沒什麼別的，我就是準備好隨時隨地都要睡覺的。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/>
        </p:nvSpPr>
        <p:spPr>
          <a:xfrm>
            <a:off x="379975" y="298500"/>
            <a:ext cx="2917800" cy="4546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The Zoo Inside Your Ear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耳朵裡的動物園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Question5/5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逛了一圈，你終於找到一個最舒服的秘密基地。你現在最想在那裡做什麼？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A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B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C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D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2"/>
                </a:solidFill>
              </a:rPr>
              <a:t>(耳酷logo)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6" name="Google Shape;146;p28"/>
          <p:cNvSpPr txBox="1"/>
          <p:nvPr/>
        </p:nvSpPr>
        <p:spPr>
          <a:xfrm>
            <a:off x="3637075" y="1085700"/>
            <a:ext cx="5333700" cy="3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chemeClr val="dk1"/>
                </a:solidFill>
              </a:rPr>
              <a:t>Q5. 最終願望（生成結果關鍵）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逛了一圈，你終於找到一個最舒服的秘密基地。你現在最想在那裡做什麼？</a:t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A. 變成捲餅（需要安全感）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用棉被把自己裹成一條壽司卷，誰都別想把它撥開。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B. 倒垃圾時間（需要宣洩）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找個樹洞（或朋友），把心裡的廢話全部倒光光。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C. 開啟飛航模式（需要獨處）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戴上耳機，切斷所有訊號，我只想自己靜一靜。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D. 跟著大家一起軟爛（需要放鬆）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什麼都不做，就只是想跟動物們癱在一起發呆。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/>
        </p:nvSpPr>
        <p:spPr>
          <a:xfrm>
            <a:off x="379975" y="81425"/>
            <a:ext cx="3365700" cy="4885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The Zoo Inside Your Ear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耳朵裡的動物園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2"/>
                </a:solidFill>
              </a:rPr>
              <a:t>主視覺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2"/>
                </a:solidFill>
              </a:rPr>
              <a:t>已讀不回樹懶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2"/>
                </a:solidFill>
              </a:rPr>
              <a:t>「 我不是不回，只是動作比較慢... 」 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2"/>
                </a:solidFill>
              </a:rPr>
              <a:t>#能躺就不坐 #間歇性失蹤 #時區不同步  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2"/>
                </a:solidFill>
              </a:rPr>
              <a:t>腦內噪音： 靜音 ──●──────── 吵鬧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2"/>
                </a:solidFill>
              </a:rPr>
              <a:t>社交電力： 沒電 ●────────── 充沛 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2"/>
                </a:solidFill>
              </a:rPr>
              <a:t>飼育員的筆記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2"/>
                </a:solidFill>
              </a:rPr>
              <a:t>這隻樹懶的「慢」，其實是一種對抗快節奏世界的高級防禦機制。你也一樣，不需要隨時都在線上待命。今晚，就允許自己把世界調成 0.5 倍速，安心地慢下來吧。  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加入 LINE 領取【專屬睡眠處方】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列印我的入園通行證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發送邀請函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6" name="Google Shape;156;p30"/>
          <p:cNvSpPr txBox="1"/>
          <p:nvPr/>
        </p:nvSpPr>
        <p:spPr>
          <a:xfrm>
            <a:off x="4071375" y="461525"/>
            <a:ext cx="4709400" cy="4383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zh-TW" sz="1600">
                <a:solidFill>
                  <a:schemeClr val="dk2"/>
                </a:solidFill>
              </a:rPr>
              <a:t>主視覺：AI 生成的「人+動物」互動圖。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zh-TW" sz="1600">
                <a:solidFill>
                  <a:schemeClr val="dk2"/>
                </a:solidFill>
              </a:rPr>
              <a:t>大標題：角色名稱。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zh-TW" sz="1600">
                <a:solidFill>
                  <a:schemeClr val="dk2"/>
                </a:solidFill>
              </a:rPr>
              <a:t>金句：Slogan。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zh-TW" sz="1600">
                <a:solidFill>
                  <a:schemeClr val="dk2"/>
                </a:solidFill>
              </a:rPr>
              <a:t>標籤：#Hashtags。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zh-TW" sz="1600">
                <a:solidFill>
                  <a:schemeClr val="dk2"/>
                </a:solidFill>
              </a:rPr>
              <a:t>量表：腦內噪音 (低-高) / 社交電力 (弱-強)。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zh-TW" sz="1600">
                <a:solidFill>
                  <a:schemeClr val="dk2"/>
                </a:solidFill>
              </a:rPr>
              <a:t>筆記：飼育員的溫暖解析 (Gemini 生成)。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zh-TW" sz="1600">
                <a:solidFill>
                  <a:schemeClr val="dk2"/>
                </a:solidFill>
              </a:rPr>
              <a:t>【驗票入園】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zh-TW" sz="1600">
                <a:solidFill>
                  <a:schemeClr val="dk2"/>
                </a:solidFill>
              </a:rPr>
              <a:t>加入 LINE 領取【專屬睡眠處方】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zh-TW" sz="1600">
                <a:solidFill>
                  <a:schemeClr val="dk2"/>
                </a:solidFill>
              </a:rPr>
              <a:t>列印我的入園通行證（儲存圖片按鈕）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zh-TW" sz="1600">
                <a:solidFill>
                  <a:schemeClr val="dk2"/>
                </a:solidFill>
              </a:rPr>
              <a:t>發送邀請函（分享按鈕）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31" title="截圖 2026-01-31 下午1.41.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162" y="849763"/>
            <a:ext cx="2616250" cy="3443975"/>
          </a:xfrm>
          <a:prstGeom prst="rect">
            <a:avLst/>
          </a:prstGeom>
          <a:noFill/>
          <a:ln cap="flat" cmpd="sng" w="152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2" name="Google Shape;162;p31" title="截圖 2026-01-31 下午1.40.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1512" y="849763"/>
            <a:ext cx="2556662" cy="344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1" title="618031490_17912988456277668_8338034563353273117_n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12262" y="849763"/>
            <a:ext cx="2860570" cy="344397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1"/>
          <p:cNvSpPr txBox="1"/>
          <p:nvPr/>
        </p:nvSpPr>
        <p:spPr>
          <a:xfrm>
            <a:off x="0" y="0"/>
            <a:ext cx="3000000" cy="461700"/>
          </a:xfrm>
          <a:prstGeom prst="rect">
            <a:avLst/>
          </a:prstGeom>
          <a:solidFill>
            <a:srgbClr val="0054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FFFFFF"/>
                </a:solidFill>
              </a:rPr>
              <a:t>首頁風格</a:t>
            </a:r>
            <a:endParaRPr sz="1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900" y="922558"/>
            <a:ext cx="2545097" cy="3183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2" title="524161502_17893071027277668_3655552412986597435_n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8250" y="922558"/>
            <a:ext cx="2135090" cy="3327613"/>
          </a:xfrm>
          <a:prstGeom prst="rect">
            <a:avLst/>
          </a:prstGeom>
          <a:noFill/>
          <a:ln cap="flat" cmpd="sng" w="152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1" name="Google Shape;171;p32" title="623429396_17914121355277668_5158215823580826523_n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3189" y="922558"/>
            <a:ext cx="2816910" cy="373239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2"/>
          <p:cNvSpPr txBox="1"/>
          <p:nvPr/>
        </p:nvSpPr>
        <p:spPr>
          <a:xfrm>
            <a:off x="0" y="0"/>
            <a:ext cx="3000000" cy="461700"/>
          </a:xfrm>
          <a:prstGeom prst="rect">
            <a:avLst/>
          </a:prstGeom>
          <a:solidFill>
            <a:srgbClr val="0054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FFFFFF"/>
                </a:solidFill>
              </a:rPr>
              <a:t>測驗結果頁面</a:t>
            </a:r>
            <a:endParaRPr sz="1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3" title="c3de0302f53e9167485030716c776ae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250" y="152400"/>
            <a:ext cx="1420344" cy="2029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3" title="ee862c4736d094f9ffec2006d3d074c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9274" y="152400"/>
            <a:ext cx="1675849" cy="2034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3" title="47e31f85d7fa4876995ff2a9f10d3108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8324" y="152400"/>
            <a:ext cx="1420350" cy="2195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3" title="aaf9a7cd2e1c81d2b2287f794820bb41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1100" y="2513442"/>
            <a:ext cx="1675851" cy="2376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3" title="50ffe3da16a454d2ca8217c9ddd4f69f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33800" y="152400"/>
            <a:ext cx="1675850" cy="2094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3" title="88eec3ced0903699ac881c46a77f8346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06949" y="2636313"/>
            <a:ext cx="1599999" cy="2130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3" title="c9ce52a05c5dbc35881363238d14d61f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739950" y="2571750"/>
            <a:ext cx="1600000" cy="2123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4" title="74742e3084b1fc12f3cd550cce39f4ab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088" y="863338"/>
            <a:ext cx="2416149" cy="341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4" title="504235d1c12a11410180c1104a372faf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9613" y="947863"/>
            <a:ext cx="3332299" cy="3332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4" title="c4082e8578d6f38e2eee8fdbed91aabe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70362" y="863338"/>
            <a:ext cx="2737756" cy="341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5" title="047f42f2780f0269e51ac46088dc5a4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274923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5" title="50695d0941535df60cae22e8df59b0c3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9723" y="152400"/>
            <a:ext cx="374126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36" title="d6d4b1c829b6e5a164dcfd55d13f540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6" title="cf3ea9621e9d847e055ebc713231c923 (1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6350" y="449838"/>
            <a:ext cx="3848100" cy="4243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